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lab's mouse colony database: a single web page backed by a hosted database (Supabase). This one diagram shows how it works end to end, how several people use it at once (each with their own login), and why different people see and can do different things.</a:t>
            </a:r>
          </a:p>
          <a:p/>
          <a:p>
            <a:r>
              <a:t>Live at leomeow123.github.io/leelab-colony (moving to colony.kuofenleelab.com). No server to maintain and it runs on free tiers.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(top row left→right, then the bottom lane)</a:t>
            </a:r>
          </a:p>
          <a:p>
            <a:r>
              <a:t>Everyone signs in with their NAME and their OWN password. The first time, you use a shared default password once and the app then forces you to set a personal one — so no one can log into anyone else's account. Your name is attached to everything you do. The Web-maintainer (Leo) has two backdoors: a 'Log in as' button (impersonation, logged) and a master password that works on any account.</a:t>
            </a:r>
          </a:p>
          <a:p/>
          <a:p>
            <a:r>
              <a:t>HOW SUPABASE WORKS</a:t>
            </a:r>
          </a:p>
          <a:p>
            <a:r>
              <a:t>- Supabase is a hosted PostgreSQL database that also auto-generates a web (REST) API in front of every table, plus Row-Level Security and small server-side functions.</a:t>
            </a:r>
          </a:p>
          <a:p>
            <a:r>
              <a:t>- The web page is one static HTML file (GitHub Pages). It has no backend of its own — it calls Supabase's REST API directly, sending a public 'publishable' key with each request.</a:t>
            </a:r>
          </a:p>
          <a:p>
            <a:r>
              <a:t>- Data lives in a few tables: mice (the hub), app_users (people + role + email + each person's password hash), requests, guardian_angels + angel_reactions (pets), audit_log, app_config. A view (mouse_v) computes each mouse's age and staleness from its date of birth on the fly.</a:t>
            </a:r>
          </a:p>
          <a:p>
            <a:r>
              <a:t>- Anything that needs a secret (sending email) runs in a Supabase Edge Function server-side, which holds the mail key and sends with a link back to the app.</a:t>
            </a:r>
          </a:p>
          <a:p>
            <a:r>
              <a:t>- A GitHub Action dumps every table to a private repo once a day (restorable backups) and keeps the free database awake.</a:t>
            </a:r>
          </a:p>
          <a:p/>
          <a:p>
            <a:r>
              <a:t>THE ROLES (app_users.role)</a:t>
            </a:r>
          </a:p>
          <a:p>
            <a:r>
              <a:t>- Member: files requests, adds/imports mice, manages their own colony (edit/delete only their own).</a:t>
            </a:r>
          </a:p>
          <a:p>
            <a:r>
              <a:t>- Manager: all of the above, plus approve/deny requests, transfer ownership, and act on any mouse (the colony/breeding manager, e.g. Bertha).</a:t>
            </a:r>
          </a:p>
          <a:p>
            <a:r>
              <a:t>- PI: same authority as a manager, for oversight.</a:t>
            </a:r>
          </a:p>
          <a:p>
            <a:r>
              <a:t>- Web-maintainer (Leo): full access, plus the password/impersonation backdoors.</a:t>
            </a:r>
          </a:p>
          <a:p/>
          <a:p>
            <a:r>
              <a:t>HOW DIFFERENT USERS SEE (AND CAN DO) DIFFERENT THINGS</a:t>
            </a:r>
          </a:p>
          <a:p>
            <a:r>
              <a:t>- It is the same shared database, but the app shapes each person's view by OWNERSHIP, ROLE, and who you are logged in as:</a:t>
            </a:r>
          </a:p>
          <a:p>
            <a:r>
              <a:t>   - 'My colony' shows only mice you own or created; you can group and expand them.</a:t>
            </a:r>
          </a:p>
          <a:p>
            <a:r>
              <a:t>   - Delete and batch-edit are owner-scoped: a member only touches their own mice (enforced with a server-side owner filter); managers / PI / Web-maintainer can act on any.</a:t>
            </a:r>
          </a:p>
          <a:p>
            <a:r>
              <a:t>   - Requests are assigned to specific people; approve / close buttons appear only for managers or the assignees; only the assignees are emailed. 'Request for mice' and 'Breed' collect on the Mice-needed board.</a:t>
            </a:r>
          </a:p>
          <a:p>
            <a:r>
              <a:t>   - The password setters and backdoors are Web-maintainer-only.</a:t>
            </a:r>
          </a:p>
          <a:p>
            <a:r>
              <a:t>- Honest point for the lab: this is still a SOFT model — one public key, and the password hashes live in a table that key can read, so a determined technical person could bypass the UI. Per-user passwords stop casual cross-login, roles/ownership decide what is shown and who can act, and every change is in the audit log. For hard per-person enforcement we'd switch to Supabase Auth and write those rules into Row-Level Security — with no change to the data.</a:t>
            </a:r>
          </a:p>
          <a:p/>
          <a:p>
            <a:r>
              <a:t>AND A NICE TOUCH: everyone uploads their pets as 'Guardian Angels', and each visit a random pet greets you with a warm message; departed mice are honored in 'In Memoriam'.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377440"/>
            <a:ext cx="10332720" cy="1097280"/>
          </a:xfrm>
          <a:prstGeom prst="rect">
            <a:avLst/>
          </a:prstGeom>
          <a:noFill/>
        </p:spPr>
        <p:txBody>
          <a:bodyPr wrap="square" anchor="t">
            <a:spAutoFit/>
          </a:bodyPr>
          <a:lstStyle/>
          <a:p>
            <a:pPr algn="ctr"/>
            <a:r>
              <a:rPr sz="4000" b="1" i="0">
                <a:solidFill>
                  <a:srgbClr val="FFFFFF"/>
                </a:solidFill>
                <a:latin typeface="Calibri"/>
              </a:rPr>
              <a:t>🐭 Lee Lab Mouse Colony Database</a:t>
            </a:r>
          </a:p>
        </p:txBody>
      </p:sp>
      <p:sp>
        <p:nvSpPr>
          <p:cNvPr id="4" name="TextBox 3"/>
          <p:cNvSpPr txBox="1"/>
          <p:nvPr/>
        </p:nvSpPr>
        <p:spPr>
          <a:xfrm>
            <a:off x="914400" y="3566160"/>
            <a:ext cx="10332720" cy="731520"/>
          </a:xfrm>
          <a:prstGeom prst="rect">
            <a:avLst/>
          </a:prstGeom>
          <a:noFill/>
        </p:spPr>
        <p:txBody>
          <a:bodyPr wrap="square" anchor="t">
            <a:spAutoFit/>
          </a:bodyPr>
          <a:lstStyle/>
          <a:p>
            <a:pPr algn="ctr"/>
            <a:r>
              <a:rPr sz="2000" b="0" i="0">
                <a:solidFill>
                  <a:srgbClr val="C7D6F5"/>
                </a:solidFill>
                <a:latin typeface="Calibri"/>
              </a:rPr>
              <a:t>How it works, end to end — logins, roles, and why different users see different things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0"/>
          <a:lstStyle/>
          <a:p>
            <a:pPr algn="ctr"/>
            <a:r>
              <a:rPr sz="2200" b="1">
                <a:solidFill>
                  <a:srgbClr val="FFFFFF"/>
                </a:solidFill>
                <a:latin typeface="Calibri"/>
              </a:rPr>
              <a:t>Lee Lab Colony DB — one connected workflow</a:t>
            </a:r>
          </a:p>
        </p:txBody>
      </p:sp>
      <p:sp>
        <p:nvSpPr>
          <p:cNvPr id="3" name="TextBox 2"/>
          <p:cNvSpPr txBox="1"/>
          <p:nvPr/>
        </p:nvSpPr>
        <p:spPr>
          <a:xfrm>
            <a:off x="8366760" y="201168"/>
            <a:ext cx="548640" cy="292608"/>
          </a:xfrm>
          <a:prstGeom prst="rect">
            <a:avLst/>
          </a:prstGeom>
          <a:noFill/>
        </p:spPr>
        <p:txBody>
          <a:bodyPr wrap="square" anchor="t">
            <a:spAutoFit/>
          </a:bodyPr>
          <a:lstStyle/>
          <a:p>
            <a:pPr algn="l"/>
            <a:r>
              <a:rPr sz="1100" b="1" i="0">
                <a:solidFill>
                  <a:srgbClr val="C7D6F5"/>
                </a:solidFill>
                <a:latin typeface="Calibri"/>
              </a:rPr>
              <a:t>Roles:</a:t>
            </a:r>
          </a:p>
        </p:txBody>
      </p:sp>
      <p:sp>
        <p:nvSpPr>
          <p:cNvPr id="4" name="Rectangle 3"/>
          <p:cNvSpPr/>
          <p:nvPr/>
        </p:nvSpPr>
        <p:spPr>
          <a:xfrm>
            <a:off x="8915400" y="246888"/>
            <a:ext cx="137160" cy="137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79992" y="182880"/>
            <a:ext cx="594360" cy="274320"/>
          </a:xfrm>
          <a:prstGeom prst="rect">
            <a:avLst/>
          </a:prstGeom>
          <a:noFill/>
        </p:spPr>
        <p:txBody>
          <a:bodyPr wrap="square" anchor="t">
            <a:spAutoFit/>
          </a:bodyPr>
          <a:lstStyle/>
          <a:p>
            <a:pPr algn="l"/>
            <a:r>
              <a:rPr sz="900" b="0" i="0">
                <a:solidFill>
                  <a:srgbClr val="FFFFFF"/>
                </a:solidFill>
                <a:latin typeface="Calibri"/>
              </a:rPr>
              <a:t>PI</a:t>
            </a:r>
          </a:p>
        </p:txBody>
      </p:sp>
      <p:sp>
        <p:nvSpPr>
          <p:cNvPr id="6" name="Rectangle 5"/>
          <p:cNvSpPr/>
          <p:nvPr/>
        </p:nvSpPr>
        <p:spPr>
          <a:xfrm>
            <a:off x="9665208" y="246888"/>
            <a:ext cx="137160" cy="1371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182880"/>
            <a:ext cx="594360" cy="274320"/>
          </a:xfrm>
          <a:prstGeom prst="rect">
            <a:avLst/>
          </a:prstGeom>
          <a:noFill/>
        </p:spPr>
        <p:txBody>
          <a:bodyPr wrap="square" anchor="t">
            <a:spAutoFit/>
          </a:bodyPr>
          <a:lstStyle/>
          <a:p>
            <a:pPr algn="l"/>
            <a:r>
              <a:rPr sz="900" b="0" i="0">
                <a:solidFill>
                  <a:srgbClr val="FFFFFF"/>
                </a:solidFill>
                <a:latin typeface="Calibri"/>
              </a:rPr>
              <a:t>Mgr</a:t>
            </a:r>
          </a:p>
        </p:txBody>
      </p:sp>
      <p:sp>
        <p:nvSpPr>
          <p:cNvPr id="8" name="Rectangle 7"/>
          <p:cNvSpPr/>
          <p:nvPr/>
        </p:nvSpPr>
        <p:spPr>
          <a:xfrm>
            <a:off x="10415016" y="246888"/>
            <a:ext cx="137160" cy="137160"/>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79608" y="182880"/>
            <a:ext cx="594360" cy="274320"/>
          </a:xfrm>
          <a:prstGeom prst="rect">
            <a:avLst/>
          </a:prstGeom>
          <a:noFill/>
        </p:spPr>
        <p:txBody>
          <a:bodyPr wrap="square" anchor="t">
            <a:spAutoFit/>
          </a:bodyPr>
          <a:lstStyle/>
          <a:p>
            <a:pPr algn="l"/>
            <a:r>
              <a:rPr sz="900" b="0" i="0">
                <a:solidFill>
                  <a:srgbClr val="FFFFFF"/>
                </a:solidFill>
                <a:latin typeface="Calibri"/>
              </a:rPr>
              <a:t>Member</a:t>
            </a:r>
          </a:p>
        </p:txBody>
      </p:sp>
      <p:sp>
        <p:nvSpPr>
          <p:cNvPr id="10" name="Rectangle 9"/>
          <p:cNvSpPr/>
          <p:nvPr/>
        </p:nvSpPr>
        <p:spPr>
          <a:xfrm>
            <a:off x="11164824" y="246888"/>
            <a:ext cx="137160" cy="13716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329416" y="182880"/>
            <a:ext cx="594360" cy="274320"/>
          </a:xfrm>
          <a:prstGeom prst="rect">
            <a:avLst/>
          </a:prstGeom>
          <a:noFill/>
        </p:spPr>
        <p:txBody>
          <a:bodyPr wrap="square" anchor="t">
            <a:spAutoFit/>
          </a:bodyPr>
          <a:lstStyle/>
          <a:p>
            <a:pPr algn="l"/>
            <a:r>
              <a:rPr sz="900" b="0" i="0">
                <a:solidFill>
                  <a:srgbClr val="FFFFFF"/>
                </a:solidFill>
                <a:latin typeface="Calibri"/>
              </a:rPr>
              <a:t>Web-maint.</a:t>
            </a:r>
          </a:p>
        </p:txBody>
      </p:sp>
      <p:sp>
        <p:nvSpPr>
          <p:cNvPr id="12" name="TextBox 11"/>
          <p:cNvSpPr txBox="1"/>
          <p:nvPr/>
        </p:nvSpPr>
        <p:spPr>
          <a:xfrm>
            <a:off x="320040" y="868680"/>
            <a:ext cx="1371600" cy="274320"/>
          </a:xfrm>
          <a:prstGeom prst="rect">
            <a:avLst/>
          </a:prstGeom>
          <a:noFill/>
        </p:spPr>
        <p:txBody>
          <a:bodyPr wrap="square" anchor="t">
            <a:spAutoFit/>
          </a:bodyPr>
          <a:lstStyle/>
          <a:p>
            <a:pPr algn="l"/>
            <a:r>
              <a:rPr sz="1100" b="1" i="0">
                <a:solidFill>
                  <a:srgbClr val="64748B"/>
                </a:solidFill>
                <a:latin typeface="Calibri"/>
              </a:rPr>
              <a:t>USERS</a:t>
            </a:r>
          </a:p>
        </p:txBody>
      </p:sp>
      <p:sp>
        <p:nvSpPr>
          <p:cNvPr id="13" name="Rounded Rectangle 12"/>
          <p:cNvSpPr/>
          <p:nvPr/>
        </p:nvSpPr>
        <p:spPr>
          <a:xfrm>
            <a:off x="320040" y="1188720"/>
            <a:ext cx="1417320" cy="3657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PI</a:t>
            </a:r>
          </a:p>
        </p:txBody>
      </p:sp>
      <p:sp>
        <p:nvSpPr>
          <p:cNvPr id="14" name="Rounded Rectangle 13"/>
          <p:cNvSpPr/>
          <p:nvPr/>
        </p:nvSpPr>
        <p:spPr>
          <a:xfrm>
            <a:off x="320040" y="1591056"/>
            <a:ext cx="1417320" cy="365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Manager</a:t>
            </a:r>
          </a:p>
        </p:txBody>
      </p:sp>
      <p:sp>
        <p:nvSpPr>
          <p:cNvPr id="15" name="Rounded Rectangle 14"/>
          <p:cNvSpPr/>
          <p:nvPr/>
        </p:nvSpPr>
        <p:spPr>
          <a:xfrm>
            <a:off x="320040" y="1993392"/>
            <a:ext cx="1417320" cy="365760"/>
          </a:xfrm>
          <a:prstGeom prst="round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Member</a:t>
            </a:r>
          </a:p>
        </p:txBody>
      </p:sp>
      <p:sp>
        <p:nvSpPr>
          <p:cNvPr id="16" name="Rounded Rectangle 15"/>
          <p:cNvSpPr/>
          <p:nvPr/>
        </p:nvSpPr>
        <p:spPr>
          <a:xfrm>
            <a:off x="320040" y="2395728"/>
            <a:ext cx="1417320" cy="36576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Calibri"/>
              </a:rPr>
              <a:t>Web-maintainer</a:t>
            </a:r>
          </a:p>
        </p:txBody>
      </p:sp>
      <p:sp>
        <p:nvSpPr>
          <p:cNvPr id="17" name="Rounded Rectangle 16"/>
          <p:cNvSpPr/>
          <p:nvPr/>
        </p:nvSpPr>
        <p:spPr>
          <a:xfrm>
            <a:off x="2331720" y="1572768"/>
            <a:ext cx="1874519" cy="960120"/>
          </a:xfrm>
          <a:prstGeom prst="round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Log in</a:t>
            </a:r>
          </a:p>
          <a:p>
            <a:pPr algn="ctr"/>
            <a:r>
              <a:rPr sz="1000">
                <a:solidFill>
                  <a:srgbClr val="FFFFFF"/>
                </a:solidFill>
                <a:latin typeface="Calibri"/>
              </a:rPr>
              <a:t>your own password (set on 1st login) · Leo has a master password</a:t>
            </a:r>
          </a:p>
        </p:txBody>
      </p:sp>
      <p:sp>
        <p:nvSpPr>
          <p:cNvPr id="18" name="Rounded Rectangle 17"/>
          <p:cNvSpPr/>
          <p:nvPr/>
        </p:nvSpPr>
        <p:spPr>
          <a:xfrm>
            <a:off x="4617720" y="1600200"/>
            <a:ext cx="2286000" cy="9144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FFFF"/>
                </a:solidFill>
                <a:latin typeface="Calibri"/>
              </a:rPr>
              <a:t>Colony web app</a:t>
            </a:r>
          </a:p>
          <a:p>
            <a:pPr algn="ctr"/>
            <a:r>
              <a:rPr sz="1100">
                <a:solidFill>
                  <a:srgbClr val="FFFFFF"/>
                </a:solidFill>
                <a:latin typeface="Calibri"/>
              </a:rPr>
              <a:t>index.html · GitHub Pages</a:t>
            </a:r>
          </a:p>
        </p:txBody>
      </p:sp>
      <p:sp>
        <p:nvSpPr>
          <p:cNvPr id="19" name="Rounded Rectangle 18"/>
          <p:cNvSpPr/>
          <p:nvPr/>
        </p:nvSpPr>
        <p:spPr>
          <a:xfrm>
            <a:off x="9281160" y="1097280"/>
            <a:ext cx="2697480" cy="932688"/>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FFFF"/>
                </a:solidFill>
                <a:latin typeface="Calibri"/>
              </a:rPr>
              <a:t>Supabase</a:t>
            </a:r>
          </a:p>
          <a:p>
            <a:pPr algn="ctr"/>
            <a:r>
              <a:rPr sz="1100">
                <a:solidFill>
                  <a:srgbClr val="FFFFFF"/>
                </a:solidFill>
                <a:latin typeface="Calibri"/>
              </a:rPr>
              <a:t>Postgres + RLS + auto REST API</a:t>
            </a:r>
          </a:p>
        </p:txBody>
      </p:sp>
      <p:sp>
        <p:nvSpPr>
          <p:cNvPr id="20" name="Rounded Rectangle 19"/>
          <p:cNvSpPr/>
          <p:nvPr/>
        </p:nvSpPr>
        <p:spPr>
          <a:xfrm>
            <a:off x="9281160" y="2139696"/>
            <a:ext cx="2697480" cy="548640"/>
          </a:xfrm>
          <a:prstGeom prst="roundRect">
            <a:avLst/>
          </a:prstGeom>
          <a:solidFill>
            <a:srgbClr val="0F5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00" b="1">
                <a:solidFill>
                  <a:srgbClr val="FFFFFF"/>
                </a:solidFill>
                <a:latin typeface="Calibri"/>
              </a:rPr>
              <a:t>mice · app_users · requests · guardian_angels · audit_log</a:t>
            </a:r>
          </a:p>
        </p:txBody>
      </p:sp>
      <p:sp>
        <p:nvSpPr>
          <p:cNvPr id="21" name="Rounded Rectangle 20"/>
          <p:cNvSpPr/>
          <p:nvPr/>
        </p:nvSpPr>
        <p:spPr>
          <a:xfrm>
            <a:off x="9281160" y="2798064"/>
            <a:ext cx="2697480" cy="457200"/>
          </a:xfrm>
          <a:prstGeom prst="round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FFFFFF"/>
                </a:solidFill>
                <a:latin typeface="Calibri"/>
              </a:rPr>
              <a:t>Daily backups (GitHub Actions)</a:t>
            </a:r>
          </a:p>
        </p:txBody>
      </p:sp>
      <p:cxnSp>
        <p:nvCxnSpPr>
          <p:cNvPr id="22" name="Connector 21"/>
          <p:cNvCxnSpPr/>
          <p:nvPr/>
        </p:nvCxnSpPr>
        <p:spPr>
          <a:xfrm>
            <a:off x="1737360" y="1371600"/>
            <a:ext cx="594360" cy="681228"/>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737360" y="1773936"/>
            <a:ext cx="594360" cy="278892"/>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737360" y="2052828"/>
            <a:ext cx="594360" cy="123444"/>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737360" y="2052828"/>
            <a:ext cx="594360" cy="52578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206240" y="2052828"/>
            <a:ext cx="411480" cy="4572"/>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903720" y="1563624"/>
            <a:ext cx="2377440" cy="493776"/>
          </a:xfrm>
          <a:prstGeom prst="line">
            <a:avLst/>
          </a:prstGeom>
          <a:ln w="22225">
            <a:solidFill>
              <a:srgbClr val="94A3B8"/>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12280" y="1298448"/>
            <a:ext cx="2377440" cy="274320"/>
          </a:xfrm>
          <a:prstGeom prst="rect">
            <a:avLst/>
          </a:prstGeom>
          <a:noFill/>
        </p:spPr>
        <p:txBody>
          <a:bodyPr wrap="square" anchor="t">
            <a:spAutoFit/>
          </a:bodyPr>
          <a:lstStyle/>
          <a:p>
            <a:pPr algn="ctr"/>
            <a:r>
              <a:rPr sz="1000" b="0" i="1">
                <a:solidFill>
                  <a:srgbClr val="64748B"/>
                </a:solidFill>
                <a:latin typeface="Calibri"/>
              </a:rPr>
              <a:t>reads / writes  (public key + RLS)</a:t>
            </a:r>
          </a:p>
        </p:txBody>
      </p:sp>
      <p:cxnSp>
        <p:nvCxnSpPr>
          <p:cNvPr id="29" name="Connector 28"/>
          <p:cNvCxnSpPr/>
          <p:nvPr/>
        </p:nvCxnSpPr>
        <p:spPr>
          <a:xfrm>
            <a:off x="10629900" y="2029967"/>
            <a:ext cx="0" cy="109729"/>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629900" y="2688336"/>
            <a:ext cx="0" cy="109728"/>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572000" y="2615184"/>
            <a:ext cx="3657600" cy="274320"/>
          </a:xfrm>
          <a:prstGeom prst="rect">
            <a:avLst/>
          </a:prstGeom>
          <a:noFill/>
        </p:spPr>
        <p:txBody>
          <a:bodyPr wrap="square" anchor="t">
            <a:spAutoFit/>
          </a:bodyPr>
          <a:lstStyle/>
          <a:p>
            <a:pPr algn="l"/>
            <a:r>
              <a:rPr sz="1100" b="1" i="1">
                <a:solidFill>
                  <a:srgbClr val="64748B"/>
                </a:solidFill>
                <a:latin typeface="Calibri"/>
              </a:rPr>
              <a:t>In the app, anyone can:</a:t>
            </a:r>
          </a:p>
        </p:txBody>
      </p:sp>
      <p:sp>
        <p:nvSpPr>
          <p:cNvPr id="32" name="Rounded Rectangle 31"/>
          <p:cNvSpPr/>
          <p:nvPr/>
        </p:nvSpPr>
        <p:spPr>
          <a:xfrm>
            <a:off x="2331720" y="2926080"/>
            <a:ext cx="2148840" cy="8229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Add cohort / single mouse</a:t>
            </a:r>
          </a:p>
          <a:p>
            <a:pPr algn="ctr"/>
            <a:r>
              <a:rPr sz="1000">
                <a:solidFill>
                  <a:srgbClr val="FFFFFF"/>
                </a:solidFill>
                <a:latin typeface="Calibri"/>
              </a:rPr>
              <a:t>or Import CSV/Excel (auto-match)</a:t>
            </a:r>
          </a:p>
        </p:txBody>
      </p:sp>
      <p:sp>
        <p:nvSpPr>
          <p:cNvPr id="33" name="Rounded Rectangle 32"/>
          <p:cNvSpPr/>
          <p:nvPr/>
        </p:nvSpPr>
        <p:spPr>
          <a:xfrm>
            <a:off x="4617720" y="2926080"/>
            <a:ext cx="2194560" cy="822960"/>
          </a:xfrm>
          <a:prstGeom prst="round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Browse the colony</a:t>
            </a:r>
          </a:p>
          <a:p>
            <a:pPr algn="ctr"/>
            <a:r>
              <a:rPr sz="1000">
                <a:solidFill>
                  <a:srgbClr val="FFFFFF"/>
                </a:solidFill>
                <a:latin typeface="Calibri"/>
              </a:rPr>
              <a:t>search · filter · grouped view</a:t>
            </a:r>
          </a:p>
        </p:txBody>
      </p:sp>
      <p:sp>
        <p:nvSpPr>
          <p:cNvPr id="34" name="Rounded Rectangle 33"/>
          <p:cNvSpPr/>
          <p:nvPr/>
        </p:nvSpPr>
        <p:spPr>
          <a:xfrm>
            <a:off x="6949440" y="2926080"/>
            <a:ext cx="2194560" cy="8229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My colony</a:t>
            </a:r>
          </a:p>
          <a:p>
            <a:pPr algn="ctr"/>
            <a:r>
              <a:rPr sz="1000">
                <a:solidFill>
                  <a:srgbClr val="FFFFFF"/>
                </a:solidFill>
                <a:latin typeface="Calibri"/>
              </a:rPr>
              <a:t>your cohorts · edit / delete</a:t>
            </a:r>
          </a:p>
        </p:txBody>
      </p:sp>
      <p:cxnSp>
        <p:nvCxnSpPr>
          <p:cNvPr id="35" name="Connector 34"/>
          <p:cNvCxnSpPr/>
          <p:nvPr/>
        </p:nvCxnSpPr>
        <p:spPr>
          <a:xfrm flipH="1">
            <a:off x="3406139" y="2514600"/>
            <a:ext cx="2354581" cy="41148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5715000" y="2514600"/>
            <a:ext cx="45720" cy="41148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60720" y="2514600"/>
            <a:ext cx="2285999" cy="41148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572000" y="3767328"/>
            <a:ext cx="4663440" cy="274320"/>
          </a:xfrm>
          <a:prstGeom prst="rect">
            <a:avLst/>
          </a:prstGeom>
          <a:noFill/>
        </p:spPr>
        <p:txBody>
          <a:bodyPr wrap="square" anchor="t">
            <a:spAutoFit/>
          </a:bodyPr>
          <a:lstStyle/>
          <a:p>
            <a:pPr algn="ctr"/>
            <a:r>
              <a:rPr sz="1000" b="0" i="1">
                <a:solidFill>
                  <a:srgbClr val="B45309"/>
                </a:solidFill>
                <a:latin typeface="Calibri"/>
              </a:rPr>
              <a:t>↑ owner-scoped: you edit / delete only your own mice (managers &amp; Leo: any)</a:t>
            </a:r>
          </a:p>
        </p:txBody>
      </p:sp>
      <p:sp>
        <p:nvSpPr>
          <p:cNvPr id="39" name="TextBox 38"/>
          <p:cNvSpPr txBox="1"/>
          <p:nvPr/>
        </p:nvSpPr>
        <p:spPr>
          <a:xfrm>
            <a:off x="9281160" y="3346704"/>
            <a:ext cx="2743200" cy="274320"/>
          </a:xfrm>
          <a:prstGeom prst="rect">
            <a:avLst/>
          </a:prstGeom>
          <a:noFill/>
        </p:spPr>
        <p:txBody>
          <a:bodyPr wrap="square" anchor="t">
            <a:spAutoFit/>
          </a:bodyPr>
          <a:lstStyle/>
          <a:p>
            <a:pPr algn="l"/>
            <a:r>
              <a:rPr sz="1000" b="1" i="1">
                <a:solidFill>
                  <a:srgbClr val="64748B"/>
                </a:solidFill>
                <a:latin typeface="Calibri"/>
              </a:rPr>
              <a:t>Also in the app:</a:t>
            </a:r>
          </a:p>
        </p:txBody>
      </p:sp>
      <p:sp>
        <p:nvSpPr>
          <p:cNvPr id="40" name="Rounded Rectangle 39"/>
          <p:cNvSpPr/>
          <p:nvPr/>
        </p:nvSpPr>
        <p:spPr>
          <a:xfrm>
            <a:off x="9281160" y="3621024"/>
            <a:ext cx="269748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Calibri"/>
              </a:rPr>
              <a:t>😇 Guardian Angels · 🕯️ In Memoriam</a:t>
            </a:r>
          </a:p>
          <a:p>
            <a:pPr algn="ctr"/>
            <a:r>
              <a:rPr sz="800">
                <a:solidFill>
                  <a:srgbClr val="FFFFFF"/>
                </a:solidFill>
                <a:latin typeface="Calibri"/>
              </a:rPr>
              <a:t>pet photos + a warm daily greeting</a:t>
            </a:r>
          </a:p>
        </p:txBody>
      </p:sp>
      <p:sp>
        <p:nvSpPr>
          <p:cNvPr id="41" name="TextBox 40"/>
          <p:cNvSpPr txBox="1"/>
          <p:nvPr/>
        </p:nvSpPr>
        <p:spPr>
          <a:xfrm>
            <a:off x="320040" y="4187952"/>
            <a:ext cx="5486400" cy="274320"/>
          </a:xfrm>
          <a:prstGeom prst="rect">
            <a:avLst/>
          </a:prstGeom>
          <a:noFill/>
        </p:spPr>
        <p:txBody>
          <a:bodyPr wrap="square" anchor="t">
            <a:spAutoFit/>
          </a:bodyPr>
          <a:lstStyle/>
          <a:p>
            <a:pPr algn="l"/>
            <a:r>
              <a:rPr sz="1100" b="1" i="1">
                <a:solidFill>
                  <a:srgbClr val="64748B"/>
                </a:solidFill>
                <a:latin typeface="Calibri"/>
              </a:rPr>
              <a:t>Requests, the breeding board &amp; email:</a:t>
            </a:r>
          </a:p>
        </p:txBody>
      </p:sp>
      <p:sp>
        <p:nvSpPr>
          <p:cNvPr id="42" name="Rounded Rectangle 41"/>
          <p:cNvSpPr/>
          <p:nvPr/>
        </p:nvSpPr>
        <p:spPr>
          <a:xfrm>
            <a:off x="320040" y="4526280"/>
            <a:ext cx="2194560" cy="9144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File a request</a:t>
            </a:r>
          </a:p>
          <a:p>
            <a:pPr algn="ctr"/>
            <a:r>
              <a:rPr sz="1000">
                <a:solidFill>
                  <a:srgbClr val="FFFFFF"/>
                </a:solidFill>
                <a:latin typeface="Calibri"/>
              </a:rPr>
              <a:t>task type · which mice / what's needed</a:t>
            </a:r>
          </a:p>
        </p:txBody>
      </p:sp>
      <p:sp>
        <p:nvSpPr>
          <p:cNvPr id="43" name="Rounded Rectangle 42"/>
          <p:cNvSpPr/>
          <p:nvPr/>
        </p:nvSpPr>
        <p:spPr>
          <a:xfrm>
            <a:off x="2697480" y="4526280"/>
            <a:ext cx="2148840" cy="91440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Assign to people</a:t>
            </a:r>
          </a:p>
          <a:p>
            <a:pPr algn="ctr"/>
            <a:r>
              <a:rPr sz="1000">
                <a:solidFill>
                  <a:srgbClr val="FFFFFF"/>
                </a:solidFill>
                <a:latin typeface="Calibri"/>
              </a:rPr>
              <a:t>one or several · picked by role</a:t>
            </a:r>
          </a:p>
        </p:txBody>
      </p:sp>
      <p:sp>
        <p:nvSpPr>
          <p:cNvPr id="44" name="Rounded Rectangle 43"/>
          <p:cNvSpPr/>
          <p:nvPr/>
        </p:nvSpPr>
        <p:spPr>
          <a:xfrm>
            <a:off x="5029200" y="4526280"/>
            <a:ext cx="2148840" cy="914400"/>
          </a:xfrm>
          <a:prstGeom prst="round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Done → close</a:t>
            </a:r>
          </a:p>
          <a:p>
            <a:pPr algn="ctr"/>
            <a:r>
              <a:rPr sz="1000">
                <a:solidFill>
                  <a:srgbClr val="FFFFFF"/>
                </a:solidFill>
                <a:latin typeface="Calibri"/>
              </a:rPr>
              <a:t>assignee marks done; manager closes</a:t>
            </a:r>
          </a:p>
        </p:txBody>
      </p:sp>
      <p:sp>
        <p:nvSpPr>
          <p:cNvPr id="45" name="Rounded Rectangle 44"/>
          <p:cNvSpPr/>
          <p:nvPr/>
        </p:nvSpPr>
        <p:spPr>
          <a:xfrm>
            <a:off x="8138160" y="4297680"/>
            <a:ext cx="384048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Notify the assignees</a:t>
            </a:r>
          </a:p>
        </p:txBody>
      </p:sp>
      <p:sp>
        <p:nvSpPr>
          <p:cNvPr id="46" name="Rounded Rectangle 45"/>
          <p:cNvSpPr/>
          <p:nvPr/>
        </p:nvSpPr>
        <p:spPr>
          <a:xfrm>
            <a:off x="8138160" y="5010912"/>
            <a:ext cx="3840480" cy="841248"/>
          </a:xfrm>
          <a:prstGeom prst="round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FFFFFF"/>
                </a:solidFill>
                <a:latin typeface="Calibri"/>
              </a:rPr>
              <a:t>Edge Function → Resend → email</a:t>
            </a:r>
          </a:p>
          <a:p>
            <a:pPr algn="ctr"/>
            <a:r>
              <a:rPr sz="900">
                <a:solidFill>
                  <a:srgbClr val="FFFFFF"/>
                </a:solidFill>
                <a:latin typeface="Calibri"/>
              </a:rPr>
              <a:t>with a link back to the app (else draft)</a:t>
            </a:r>
          </a:p>
        </p:txBody>
      </p:sp>
      <p:cxnSp>
        <p:nvCxnSpPr>
          <p:cNvPr id="47" name="Connector 46"/>
          <p:cNvCxnSpPr/>
          <p:nvPr/>
        </p:nvCxnSpPr>
        <p:spPr>
          <a:xfrm>
            <a:off x="1028700" y="2359152"/>
            <a:ext cx="388620" cy="2167128"/>
          </a:xfrm>
          <a:prstGeom prst="line">
            <a:avLst/>
          </a:prstGeom>
          <a:ln w="22225">
            <a:solidFill>
              <a:srgbClr val="94A3B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514600" y="4983480"/>
            <a:ext cx="18288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846320" y="4983480"/>
            <a:ext cx="18288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846320" y="4581144"/>
            <a:ext cx="3291840" cy="402336"/>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058400" y="4864608"/>
            <a:ext cx="0" cy="146304"/>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2743200" y="5486400"/>
            <a:ext cx="4480560" cy="274320"/>
          </a:xfrm>
          <a:prstGeom prst="rect">
            <a:avLst/>
          </a:prstGeom>
          <a:noFill/>
        </p:spPr>
        <p:txBody>
          <a:bodyPr wrap="square" anchor="t">
            <a:spAutoFit/>
          </a:bodyPr>
          <a:lstStyle/>
          <a:p>
            <a:pPr algn="ctr"/>
            <a:r>
              <a:rPr sz="1000" b="0" i="1">
                <a:solidFill>
                  <a:srgbClr val="B45309"/>
                </a:solidFill>
                <a:latin typeface="Calibri"/>
              </a:rPr>
              <a:t>'Request for mice' / 'Breed' collect on the Mice-needed board</a:t>
            </a:r>
          </a:p>
        </p:txBody>
      </p:sp>
      <p:sp>
        <p:nvSpPr>
          <p:cNvPr id="53" name="Rounded Rectangle 52"/>
          <p:cNvSpPr/>
          <p:nvPr/>
        </p:nvSpPr>
        <p:spPr>
          <a:xfrm>
            <a:off x="320040" y="6199632"/>
            <a:ext cx="11658600" cy="475488"/>
          </a:xfrm>
          <a:prstGeom prst="roundRect">
            <a:avLst/>
          </a:prstGeom>
          <a:solidFill>
            <a:srgbClr val="EFF3FB"/>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3A8A"/>
                </a:solidFill>
                <a:latin typeface="Calibri"/>
              </a:rPr>
              <a:t>Same data, different views: everyone has their own login · 'My colony' + delete/edit are scoped to you · only Managers/PI/Web-maintainer act on any mouse · every change is logged in audit_log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