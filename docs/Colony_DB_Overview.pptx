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lab's mouse colony database: a single web page backed by a hosted database (Supabase). This one diagram shows how it works end to end, how several people use it at once, and why different people see different things.</a:t>
            </a:r>
          </a:p>
          <a:p/>
          <a:p>
            <a:r>
              <a:t>Live at leomeow123.github.io/leelab-colony (moving to colony.kuofenleelab.com). No server to maintain and it runs on free tiers.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(top row left→right, then the bottom lane)</a:t>
            </a:r>
          </a:p>
          <a:p>
            <a:r>
              <a:t>Everyone signs in the same way — pick your name + one shared lab password — so there is no account admin. On first login you save your email once (used only for notifications). Your name is then attached to everything you do.</a:t>
            </a:r>
          </a:p>
          <a:p/>
          <a:p>
            <a:r>
              <a:t>HOW SUPABASE WORKS</a:t>
            </a:r>
          </a:p>
          <a:p>
            <a:r>
              <a:t>- Supabase is a hosted PostgreSQL database that also auto-generates a web (REST) API in front of every table, plus Row-Level Security and small server-side functions.</a:t>
            </a:r>
          </a:p>
          <a:p>
            <a:r>
              <a:t>- The web page is just one static HTML file (on GitHub Pages). It has no backend of its own — it calls Supabase's REST API directly, sending a public 'publishable' key with each request.</a:t>
            </a:r>
          </a:p>
          <a:p>
            <a:r>
              <a:t>- Data lives in a few tables: mice (the hub), app_users (people + role + email), requests, audit_log, app_config. A database view (mouse_v) computes each mouse's age and staleness from its date of birth on the fly.</a:t>
            </a:r>
          </a:p>
          <a:p>
            <a:r>
              <a:t>- Anything that needs a secret (sending email) can't run in the browser, so it runs in a Supabase Edge Function server-side, which holds the mail key.</a:t>
            </a:r>
          </a:p>
          <a:p>
            <a:r>
              <a:t>- A GitHub Action dumps every table to a private repo once a day (restorable backups) and keeps the free database awake.</a:t>
            </a:r>
          </a:p>
          <a:p/>
          <a:p>
            <a:r>
              <a:t>THE ROLES (stored on each person, app_users.role)</a:t>
            </a:r>
          </a:p>
          <a:p>
            <a:r>
              <a:t>- Member: files requests, adds/imports mice, manages their own colony.</a:t>
            </a:r>
          </a:p>
          <a:p>
            <a:r>
              <a:t>- Manager: all of the above, plus approve/deny requests, transfer ownership, and route to breeding (breeding requests go to the manager, e.g. Bertha).</a:t>
            </a:r>
          </a:p>
          <a:p>
            <a:r>
              <a:t>- PI: same authority as manager, for oversight.</a:t>
            </a:r>
          </a:p>
          <a:p/>
          <a:p>
            <a:r>
              <a:t>HOW DIFFERENT USERS SEE DIFFERENT THINGS</a:t>
            </a:r>
          </a:p>
          <a:p>
            <a:r>
              <a:t>- It is the same shared database, but the app shapes each person's view by OWNERSHIP and ROLE:</a:t>
            </a:r>
          </a:p>
          <a:p>
            <a:r>
              <a:t>   • 'My colony' and the 'Mine' filter show only the mice you own (responsible_person = you).</a:t>
            </a:r>
          </a:p>
          <a:p>
            <a:r>
              <a:t>   • A request auto-routes to the owner of the matching mouse; if none is available it goes to the breeding queue (manager).</a:t>
            </a:r>
          </a:p>
          <a:p>
            <a:r>
              <a:t>   • Approve / transfer / route buttons only appear for a Manager or PI (or the request's assignee).</a:t>
            </a:r>
          </a:p>
          <a:p>
            <a:r>
              <a:t>   • When notifying, you choose Owner / Managers / PI and only those people are emailed.</a:t>
            </a:r>
          </a:p>
          <a:p>
            <a:r>
              <a:t>- Honest point for the lab: today this is a SOFT model — one shared password and one public key, so anyone signed in can technically view or edit anything. Roles and ownership decide what is shown and who can act, and every change is recorded in the audit log. If we later want hard per-person permissions, we switch to real logins (magic-link or Google) and enforce them in Supabase Row-Level Security — with no change to the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377440"/>
            <a:ext cx="10332720" cy="1097280"/>
          </a:xfrm>
          <a:prstGeom prst="rect">
            <a:avLst/>
          </a:prstGeom>
          <a:noFill/>
        </p:spPr>
        <p:txBody>
          <a:bodyPr wrap="square" anchor="t">
            <a:spAutoFit/>
          </a:bodyPr>
          <a:lstStyle/>
          <a:p>
            <a:pPr algn="ctr"/>
            <a:r>
              <a:rPr sz="4000" b="1" i="0">
                <a:solidFill>
                  <a:srgbClr val="FFFFFF"/>
                </a:solidFill>
                <a:latin typeface="Calibri"/>
              </a:rPr>
              <a:t>🐭 Lee Lab Mouse Colony Database</a:t>
            </a:r>
          </a:p>
        </p:txBody>
      </p:sp>
      <p:sp>
        <p:nvSpPr>
          <p:cNvPr id="4" name="TextBox 3"/>
          <p:cNvSpPr txBox="1"/>
          <p:nvPr/>
        </p:nvSpPr>
        <p:spPr>
          <a:xfrm>
            <a:off x="914400" y="3566160"/>
            <a:ext cx="10332720" cy="731520"/>
          </a:xfrm>
          <a:prstGeom prst="rect">
            <a:avLst/>
          </a:prstGeom>
          <a:noFill/>
        </p:spPr>
        <p:txBody>
          <a:bodyPr wrap="square" anchor="t">
            <a:spAutoFit/>
          </a:bodyPr>
          <a:lstStyle/>
          <a:p>
            <a:pPr algn="ctr"/>
            <a:r>
              <a:rPr sz="2000" b="0" i="0">
                <a:solidFill>
                  <a:srgbClr val="C7D6F5"/>
                </a:solidFill>
                <a:latin typeface="Calibri"/>
              </a:rPr>
              <a:t>How it works, end to end — and why different users see different things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0"/>
          <a:lstStyle/>
          <a:p>
            <a:pPr algn="ctr"/>
            <a:r>
              <a:rPr sz="2200" b="1">
                <a:solidFill>
                  <a:srgbClr val="FFFFFF"/>
                </a:solidFill>
                <a:latin typeface="Calibri"/>
              </a:rPr>
              <a:t>Lee Lab Colony DB — one connected workflow</a:t>
            </a:r>
          </a:p>
        </p:txBody>
      </p:sp>
      <p:sp>
        <p:nvSpPr>
          <p:cNvPr id="3" name="TextBox 2"/>
          <p:cNvSpPr txBox="1"/>
          <p:nvPr/>
        </p:nvSpPr>
        <p:spPr>
          <a:xfrm>
            <a:off x="9281160" y="201168"/>
            <a:ext cx="731520" cy="292608"/>
          </a:xfrm>
          <a:prstGeom prst="rect">
            <a:avLst/>
          </a:prstGeom>
          <a:noFill/>
        </p:spPr>
        <p:txBody>
          <a:bodyPr wrap="square" anchor="t">
            <a:spAutoFit/>
          </a:bodyPr>
          <a:lstStyle/>
          <a:p>
            <a:pPr algn="l"/>
            <a:r>
              <a:rPr sz="1100" b="1" i="0">
                <a:solidFill>
                  <a:srgbClr val="C7D6F5"/>
                </a:solidFill>
                <a:latin typeface="Calibri"/>
              </a:rPr>
              <a:t>Roles:</a:t>
            </a:r>
          </a:p>
        </p:txBody>
      </p:sp>
      <p:sp>
        <p:nvSpPr>
          <p:cNvPr id="4" name="Rectangle 3"/>
          <p:cNvSpPr/>
          <p:nvPr/>
        </p:nvSpPr>
        <p:spPr>
          <a:xfrm>
            <a:off x="9829800" y="246888"/>
            <a:ext cx="146304" cy="1463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03536" y="182880"/>
            <a:ext cx="640080" cy="274320"/>
          </a:xfrm>
          <a:prstGeom prst="rect">
            <a:avLst/>
          </a:prstGeom>
          <a:noFill/>
        </p:spPr>
        <p:txBody>
          <a:bodyPr wrap="square" anchor="t">
            <a:spAutoFit/>
          </a:bodyPr>
          <a:lstStyle/>
          <a:p>
            <a:pPr algn="l"/>
            <a:r>
              <a:rPr sz="900" b="0" i="0">
                <a:solidFill>
                  <a:srgbClr val="FFFFFF"/>
                </a:solidFill>
                <a:latin typeface="Calibri"/>
              </a:rPr>
              <a:t>PI</a:t>
            </a:r>
          </a:p>
        </p:txBody>
      </p:sp>
      <p:sp>
        <p:nvSpPr>
          <p:cNvPr id="6" name="Rectangle 5"/>
          <p:cNvSpPr/>
          <p:nvPr/>
        </p:nvSpPr>
        <p:spPr>
          <a:xfrm>
            <a:off x="10616184" y="246888"/>
            <a:ext cx="146304" cy="14630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19" y="182880"/>
            <a:ext cx="640080" cy="274320"/>
          </a:xfrm>
          <a:prstGeom prst="rect">
            <a:avLst/>
          </a:prstGeom>
          <a:noFill/>
        </p:spPr>
        <p:txBody>
          <a:bodyPr wrap="square" anchor="t">
            <a:spAutoFit/>
          </a:bodyPr>
          <a:lstStyle/>
          <a:p>
            <a:pPr algn="l"/>
            <a:r>
              <a:rPr sz="900" b="0" i="0">
                <a:solidFill>
                  <a:srgbClr val="FFFFFF"/>
                </a:solidFill>
                <a:latin typeface="Calibri"/>
              </a:rPr>
              <a:t>Manager</a:t>
            </a:r>
          </a:p>
        </p:txBody>
      </p:sp>
      <p:sp>
        <p:nvSpPr>
          <p:cNvPr id="8" name="Rectangle 7"/>
          <p:cNvSpPr/>
          <p:nvPr/>
        </p:nvSpPr>
        <p:spPr>
          <a:xfrm>
            <a:off x="11402568" y="246888"/>
            <a:ext cx="146304" cy="146304"/>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576304" y="182880"/>
            <a:ext cx="640080" cy="274320"/>
          </a:xfrm>
          <a:prstGeom prst="rect">
            <a:avLst/>
          </a:prstGeom>
          <a:noFill/>
        </p:spPr>
        <p:txBody>
          <a:bodyPr wrap="square" anchor="t">
            <a:spAutoFit/>
          </a:bodyPr>
          <a:lstStyle/>
          <a:p>
            <a:pPr algn="l"/>
            <a:r>
              <a:rPr sz="900" b="0" i="0">
                <a:solidFill>
                  <a:srgbClr val="FFFFFF"/>
                </a:solidFill>
                <a:latin typeface="Calibri"/>
              </a:rPr>
              <a:t>Member</a:t>
            </a:r>
          </a:p>
        </p:txBody>
      </p:sp>
      <p:sp>
        <p:nvSpPr>
          <p:cNvPr id="10" name="TextBox 9"/>
          <p:cNvSpPr txBox="1"/>
          <p:nvPr/>
        </p:nvSpPr>
        <p:spPr>
          <a:xfrm>
            <a:off x="320040" y="868680"/>
            <a:ext cx="1371600" cy="274320"/>
          </a:xfrm>
          <a:prstGeom prst="rect">
            <a:avLst/>
          </a:prstGeom>
          <a:noFill/>
        </p:spPr>
        <p:txBody>
          <a:bodyPr wrap="square" anchor="t">
            <a:spAutoFit/>
          </a:bodyPr>
          <a:lstStyle/>
          <a:p>
            <a:pPr algn="l"/>
            <a:r>
              <a:rPr sz="1100" b="1" i="0">
                <a:solidFill>
                  <a:srgbClr val="64748B"/>
                </a:solidFill>
                <a:latin typeface="Calibri"/>
              </a:rPr>
              <a:t>USERS</a:t>
            </a:r>
          </a:p>
        </p:txBody>
      </p:sp>
      <p:sp>
        <p:nvSpPr>
          <p:cNvPr id="11" name="Rounded Rectangle 10"/>
          <p:cNvSpPr/>
          <p:nvPr/>
        </p:nvSpPr>
        <p:spPr>
          <a:xfrm>
            <a:off x="320040" y="1170432"/>
            <a:ext cx="1417320" cy="402336"/>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PI</a:t>
            </a:r>
          </a:p>
        </p:txBody>
      </p:sp>
      <p:sp>
        <p:nvSpPr>
          <p:cNvPr id="12" name="Rounded Rectangle 11"/>
          <p:cNvSpPr/>
          <p:nvPr/>
        </p:nvSpPr>
        <p:spPr>
          <a:xfrm>
            <a:off x="320040" y="1627632"/>
            <a:ext cx="1417320" cy="402336"/>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Manager</a:t>
            </a:r>
          </a:p>
        </p:txBody>
      </p:sp>
      <p:sp>
        <p:nvSpPr>
          <p:cNvPr id="13" name="Rounded Rectangle 12"/>
          <p:cNvSpPr/>
          <p:nvPr/>
        </p:nvSpPr>
        <p:spPr>
          <a:xfrm>
            <a:off x="320040" y="2084831"/>
            <a:ext cx="1417320" cy="402336"/>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Member</a:t>
            </a:r>
          </a:p>
        </p:txBody>
      </p:sp>
      <p:sp>
        <p:nvSpPr>
          <p:cNvPr id="14" name="Rounded Rectangle 13"/>
          <p:cNvSpPr/>
          <p:nvPr/>
        </p:nvSpPr>
        <p:spPr>
          <a:xfrm>
            <a:off x="2331720" y="1325880"/>
            <a:ext cx="1874519" cy="868680"/>
          </a:xfrm>
          <a:prstGeom prst="round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Log in</a:t>
            </a:r>
          </a:p>
          <a:p>
            <a:pPr algn="ctr"/>
            <a:r>
              <a:rPr sz="1000">
                <a:solidFill>
                  <a:srgbClr val="FFFFFF"/>
                </a:solidFill>
                <a:latin typeface="Calibri"/>
              </a:rPr>
              <a:t>name + shared password · email once</a:t>
            </a:r>
          </a:p>
        </p:txBody>
      </p:sp>
      <p:sp>
        <p:nvSpPr>
          <p:cNvPr id="15" name="Rounded Rectangle 14"/>
          <p:cNvSpPr/>
          <p:nvPr/>
        </p:nvSpPr>
        <p:spPr>
          <a:xfrm>
            <a:off x="4617720" y="1280160"/>
            <a:ext cx="2286000" cy="96012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FFFF"/>
                </a:solidFill>
                <a:latin typeface="Calibri"/>
              </a:rPr>
              <a:t>Colony web app</a:t>
            </a:r>
          </a:p>
          <a:p>
            <a:pPr algn="ctr"/>
            <a:r>
              <a:rPr sz="1100">
                <a:solidFill>
                  <a:srgbClr val="FFFFFF"/>
                </a:solidFill>
                <a:latin typeface="Calibri"/>
              </a:rPr>
              <a:t>index.html · GitHub Pages</a:t>
            </a:r>
          </a:p>
        </p:txBody>
      </p:sp>
      <p:sp>
        <p:nvSpPr>
          <p:cNvPr id="16" name="Rounded Rectangle 15"/>
          <p:cNvSpPr/>
          <p:nvPr/>
        </p:nvSpPr>
        <p:spPr>
          <a:xfrm>
            <a:off x="9281160" y="1143000"/>
            <a:ext cx="2697480" cy="96012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300" b="1">
                <a:solidFill>
                  <a:srgbClr val="FFFFFF"/>
                </a:solidFill>
                <a:latin typeface="Calibri"/>
              </a:rPr>
              <a:t>Supabase</a:t>
            </a:r>
          </a:p>
          <a:p>
            <a:pPr algn="ctr"/>
            <a:r>
              <a:rPr sz="1100">
                <a:solidFill>
                  <a:srgbClr val="FFFFFF"/>
                </a:solidFill>
                <a:latin typeface="Calibri"/>
              </a:rPr>
              <a:t>Postgres + RLS + auto REST API</a:t>
            </a:r>
          </a:p>
        </p:txBody>
      </p:sp>
      <p:sp>
        <p:nvSpPr>
          <p:cNvPr id="17" name="Rounded Rectangle 16"/>
          <p:cNvSpPr/>
          <p:nvPr/>
        </p:nvSpPr>
        <p:spPr>
          <a:xfrm>
            <a:off x="9281160" y="2212848"/>
            <a:ext cx="2697480" cy="457200"/>
          </a:xfrm>
          <a:prstGeom prst="roundRect">
            <a:avLst/>
          </a:prstGeom>
          <a:solidFill>
            <a:srgbClr val="0F5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Calibri"/>
              </a:rPr>
              <a:t>mice · app_users · requests · audit_log</a:t>
            </a:r>
          </a:p>
        </p:txBody>
      </p:sp>
      <p:sp>
        <p:nvSpPr>
          <p:cNvPr id="18" name="Rounded Rectangle 17"/>
          <p:cNvSpPr/>
          <p:nvPr/>
        </p:nvSpPr>
        <p:spPr>
          <a:xfrm>
            <a:off x="9281160" y="2798064"/>
            <a:ext cx="2697480" cy="457200"/>
          </a:xfrm>
          <a:prstGeom prst="round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FFFFFF"/>
                </a:solidFill>
                <a:latin typeface="Calibri"/>
              </a:rPr>
              <a:t>Daily backups (GitHub Actions)</a:t>
            </a:r>
          </a:p>
        </p:txBody>
      </p:sp>
      <p:cxnSp>
        <p:nvCxnSpPr>
          <p:cNvPr id="19" name="Connector 18"/>
          <p:cNvCxnSpPr/>
          <p:nvPr/>
        </p:nvCxnSpPr>
        <p:spPr>
          <a:xfrm>
            <a:off x="1737360" y="1371600"/>
            <a:ext cx="594360" cy="388619"/>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737360" y="1760219"/>
            <a:ext cx="594360" cy="68581"/>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737360" y="1760219"/>
            <a:ext cx="594360" cy="525781"/>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206240" y="1760219"/>
            <a:ext cx="41148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903720" y="1623060"/>
            <a:ext cx="2377440" cy="137159"/>
          </a:xfrm>
          <a:prstGeom prst="line">
            <a:avLst/>
          </a:prstGeom>
          <a:ln w="22225">
            <a:solidFill>
              <a:srgbClr val="94A3B8"/>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766560" y="1371600"/>
            <a:ext cx="2651760" cy="274320"/>
          </a:xfrm>
          <a:prstGeom prst="rect">
            <a:avLst/>
          </a:prstGeom>
          <a:noFill/>
        </p:spPr>
        <p:txBody>
          <a:bodyPr wrap="square" anchor="t">
            <a:spAutoFit/>
          </a:bodyPr>
          <a:lstStyle/>
          <a:p>
            <a:pPr algn="ctr"/>
            <a:r>
              <a:rPr sz="1000" b="0" i="1">
                <a:solidFill>
                  <a:srgbClr val="64748B"/>
                </a:solidFill>
                <a:latin typeface="Calibri"/>
              </a:rPr>
              <a:t>reads / writes  (public key + RLS)</a:t>
            </a:r>
          </a:p>
        </p:txBody>
      </p:sp>
      <p:cxnSp>
        <p:nvCxnSpPr>
          <p:cNvPr id="25" name="Connector 24"/>
          <p:cNvCxnSpPr/>
          <p:nvPr/>
        </p:nvCxnSpPr>
        <p:spPr>
          <a:xfrm>
            <a:off x="10629900" y="2103120"/>
            <a:ext cx="0" cy="109728"/>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629900" y="2670048"/>
            <a:ext cx="0" cy="128016"/>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0" y="2468880"/>
            <a:ext cx="3657600" cy="274320"/>
          </a:xfrm>
          <a:prstGeom prst="rect">
            <a:avLst/>
          </a:prstGeom>
          <a:noFill/>
        </p:spPr>
        <p:txBody>
          <a:bodyPr wrap="square" anchor="t">
            <a:spAutoFit/>
          </a:bodyPr>
          <a:lstStyle/>
          <a:p>
            <a:pPr algn="l"/>
            <a:r>
              <a:rPr sz="1100" b="1" i="1">
                <a:solidFill>
                  <a:srgbClr val="64748B"/>
                </a:solidFill>
                <a:latin typeface="Calibri"/>
              </a:rPr>
              <a:t>In the app, anyone can:</a:t>
            </a:r>
          </a:p>
        </p:txBody>
      </p:sp>
      <p:sp>
        <p:nvSpPr>
          <p:cNvPr id="28" name="Rounded Rectangle 27"/>
          <p:cNvSpPr/>
          <p:nvPr/>
        </p:nvSpPr>
        <p:spPr>
          <a:xfrm>
            <a:off x="2331720" y="2880360"/>
            <a:ext cx="2148840" cy="8229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Add cohort (by cage)</a:t>
            </a:r>
          </a:p>
          <a:p>
            <a:pPr algn="ctr"/>
            <a:r>
              <a:rPr sz="1000">
                <a:solidFill>
                  <a:srgbClr val="FFFFFF"/>
                </a:solidFill>
                <a:latin typeface="Calibri"/>
              </a:rPr>
              <a:t>or Import CSV / Excel</a:t>
            </a:r>
          </a:p>
        </p:txBody>
      </p:sp>
      <p:sp>
        <p:nvSpPr>
          <p:cNvPr id="29" name="Rounded Rectangle 28"/>
          <p:cNvSpPr/>
          <p:nvPr/>
        </p:nvSpPr>
        <p:spPr>
          <a:xfrm>
            <a:off x="4617720" y="2880360"/>
            <a:ext cx="2194560" cy="822960"/>
          </a:xfrm>
          <a:prstGeom prst="round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Browse the colony</a:t>
            </a:r>
          </a:p>
          <a:p>
            <a:pPr algn="ctr"/>
            <a:r>
              <a:rPr sz="1000">
                <a:solidFill>
                  <a:srgbClr val="FFFFFF"/>
                </a:solidFill>
                <a:latin typeface="Calibri"/>
              </a:rPr>
              <a:t>search · filter · Grouped view</a:t>
            </a:r>
          </a:p>
        </p:txBody>
      </p:sp>
      <p:sp>
        <p:nvSpPr>
          <p:cNvPr id="30" name="Rounded Rectangle 29"/>
          <p:cNvSpPr/>
          <p:nvPr/>
        </p:nvSpPr>
        <p:spPr>
          <a:xfrm>
            <a:off x="6949440" y="2880360"/>
            <a:ext cx="2194560" cy="8229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My colony</a:t>
            </a:r>
          </a:p>
          <a:p>
            <a:pPr algn="ctr"/>
            <a:r>
              <a:rPr sz="1000">
                <a:solidFill>
                  <a:srgbClr val="FFFFFF"/>
                </a:solidFill>
                <a:latin typeface="Calibri"/>
              </a:rPr>
              <a:t>only YOUR cohorts</a:t>
            </a:r>
          </a:p>
        </p:txBody>
      </p:sp>
      <p:cxnSp>
        <p:nvCxnSpPr>
          <p:cNvPr id="31" name="Connector 30"/>
          <p:cNvCxnSpPr/>
          <p:nvPr/>
        </p:nvCxnSpPr>
        <p:spPr>
          <a:xfrm flipH="1">
            <a:off x="3406139" y="2240280"/>
            <a:ext cx="2354581" cy="6400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5715000" y="2240280"/>
            <a:ext cx="45720" cy="6400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60720" y="2240280"/>
            <a:ext cx="2285999" cy="64008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66560" y="3712463"/>
            <a:ext cx="2560320" cy="274320"/>
          </a:xfrm>
          <a:prstGeom prst="rect">
            <a:avLst/>
          </a:prstGeom>
          <a:noFill/>
        </p:spPr>
        <p:txBody>
          <a:bodyPr wrap="square" anchor="t">
            <a:spAutoFit/>
          </a:bodyPr>
          <a:lstStyle/>
          <a:p>
            <a:pPr algn="ctr"/>
            <a:r>
              <a:rPr sz="1000" b="0" i="1">
                <a:solidFill>
                  <a:srgbClr val="B45309"/>
                </a:solidFill>
                <a:latin typeface="Calibri"/>
              </a:rPr>
              <a:t>↑ owner-scoped: you see the mice you own</a:t>
            </a:r>
          </a:p>
        </p:txBody>
      </p:sp>
      <p:sp>
        <p:nvSpPr>
          <p:cNvPr id="35" name="TextBox 34"/>
          <p:cNvSpPr txBox="1"/>
          <p:nvPr/>
        </p:nvSpPr>
        <p:spPr>
          <a:xfrm>
            <a:off x="320040" y="4160520"/>
            <a:ext cx="4572000" cy="274320"/>
          </a:xfrm>
          <a:prstGeom prst="rect">
            <a:avLst/>
          </a:prstGeom>
          <a:noFill/>
        </p:spPr>
        <p:txBody>
          <a:bodyPr wrap="square" anchor="t">
            <a:spAutoFit/>
          </a:bodyPr>
          <a:lstStyle/>
          <a:p>
            <a:pPr algn="l"/>
            <a:r>
              <a:rPr sz="1100" b="1" i="1">
                <a:solidFill>
                  <a:srgbClr val="64748B"/>
                </a:solidFill>
                <a:latin typeface="Calibri"/>
              </a:rPr>
              <a:t>Requests &amp; email notifications:</a:t>
            </a:r>
          </a:p>
        </p:txBody>
      </p:sp>
      <p:sp>
        <p:nvSpPr>
          <p:cNvPr id="36" name="Rounded Rectangle 35"/>
          <p:cNvSpPr/>
          <p:nvPr/>
        </p:nvSpPr>
        <p:spPr>
          <a:xfrm>
            <a:off x="320040" y="4480560"/>
            <a:ext cx="214884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File a request</a:t>
            </a:r>
          </a:p>
          <a:p>
            <a:pPr algn="ctr"/>
            <a:r>
              <a:rPr sz="1000">
                <a:solidFill>
                  <a:srgbClr val="FFFFFF"/>
                </a:solidFill>
                <a:latin typeface="Calibri"/>
              </a:rPr>
              <a:t>specific mouse # or by criteria</a:t>
            </a:r>
          </a:p>
        </p:txBody>
      </p:sp>
      <p:sp>
        <p:nvSpPr>
          <p:cNvPr id="37" name="Rounded Rectangle 36"/>
          <p:cNvSpPr/>
          <p:nvPr/>
        </p:nvSpPr>
        <p:spPr>
          <a:xfrm>
            <a:off x="2743200" y="4480560"/>
            <a:ext cx="2514600" cy="91440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Match a live mouse → Owner</a:t>
            </a:r>
          </a:p>
          <a:p>
            <a:pPr algn="ctr"/>
            <a:r>
              <a:rPr sz="1000">
                <a:solidFill>
                  <a:srgbClr val="FFFFFF"/>
                </a:solidFill>
                <a:latin typeface="Calibri"/>
              </a:rPr>
              <a:t>none available → Breeding queue</a:t>
            </a:r>
          </a:p>
        </p:txBody>
      </p:sp>
      <p:sp>
        <p:nvSpPr>
          <p:cNvPr id="38" name="Rounded Rectangle 37"/>
          <p:cNvSpPr/>
          <p:nvPr/>
        </p:nvSpPr>
        <p:spPr>
          <a:xfrm>
            <a:off x="5532120" y="4480560"/>
            <a:ext cx="2331720" cy="914400"/>
          </a:xfrm>
          <a:prstGeom prst="round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Approve / transfer / route</a:t>
            </a:r>
          </a:p>
          <a:p>
            <a:pPr algn="ctr"/>
            <a:r>
              <a:rPr sz="1000">
                <a:solidFill>
                  <a:srgbClr val="FFFFFF"/>
                </a:solidFill>
                <a:latin typeface="Calibri"/>
              </a:rPr>
              <a:t>Manager or PI only</a:t>
            </a:r>
          </a:p>
        </p:txBody>
      </p:sp>
      <p:sp>
        <p:nvSpPr>
          <p:cNvPr id="39" name="Rounded Rectangle 38"/>
          <p:cNvSpPr/>
          <p:nvPr/>
        </p:nvSpPr>
        <p:spPr>
          <a:xfrm>
            <a:off x="8138160" y="4315968"/>
            <a:ext cx="384048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latin typeface="Calibri"/>
              </a:rPr>
              <a:t>Notify: Owner · Managers · PI</a:t>
            </a:r>
          </a:p>
        </p:txBody>
      </p:sp>
      <p:sp>
        <p:nvSpPr>
          <p:cNvPr id="40" name="Rounded Rectangle 39"/>
          <p:cNvSpPr/>
          <p:nvPr/>
        </p:nvSpPr>
        <p:spPr>
          <a:xfrm>
            <a:off x="8138160" y="5029200"/>
            <a:ext cx="3840480" cy="822960"/>
          </a:xfrm>
          <a:prstGeom prst="round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FFFFFF"/>
                </a:solidFill>
                <a:latin typeface="Calibri"/>
              </a:rPr>
              <a:t>Edge Function → Resend → emails</a:t>
            </a:r>
          </a:p>
          <a:p>
            <a:pPr algn="ctr"/>
            <a:r>
              <a:rPr sz="900">
                <a:solidFill>
                  <a:srgbClr val="FFFFFF"/>
                </a:solidFill>
                <a:latin typeface="Calibri"/>
              </a:rPr>
              <a:t>fallback: pre-filled draft email</a:t>
            </a:r>
          </a:p>
        </p:txBody>
      </p:sp>
      <p:cxnSp>
        <p:nvCxnSpPr>
          <p:cNvPr id="41" name="Connector 40"/>
          <p:cNvCxnSpPr/>
          <p:nvPr/>
        </p:nvCxnSpPr>
        <p:spPr>
          <a:xfrm>
            <a:off x="1028700" y="2487168"/>
            <a:ext cx="342900" cy="1993392"/>
          </a:xfrm>
          <a:prstGeom prst="line">
            <a:avLst/>
          </a:prstGeom>
          <a:ln w="22225">
            <a:solidFill>
              <a:srgbClr val="94A3B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68880" y="4937760"/>
            <a:ext cx="27432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257800" y="4937760"/>
            <a:ext cx="274320" cy="0"/>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863840" y="4599431"/>
            <a:ext cx="274320" cy="338329"/>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058400" y="4882896"/>
            <a:ext cx="0" cy="146304"/>
          </a:xfrm>
          <a:prstGeom prst="line">
            <a:avLst/>
          </a:prstGeom>
          <a:ln w="2222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394960" y="5440680"/>
            <a:ext cx="2651760" cy="274320"/>
          </a:xfrm>
          <a:prstGeom prst="rect">
            <a:avLst/>
          </a:prstGeom>
          <a:noFill/>
        </p:spPr>
        <p:txBody>
          <a:bodyPr wrap="square" anchor="t">
            <a:spAutoFit/>
          </a:bodyPr>
          <a:lstStyle/>
          <a:p>
            <a:pPr algn="ctr"/>
            <a:r>
              <a:rPr sz="1000" b="0" i="1">
                <a:solidFill>
                  <a:srgbClr val="B45309"/>
                </a:solidFill>
                <a:latin typeface="Calibri"/>
              </a:rPr>
              <a:t>role decides who approves &amp; who gets emailed</a:t>
            </a:r>
          </a:p>
        </p:txBody>
      </p:sp>
      <p:sp>
        <p:nvSpPr>
          <p:cNvPr id="47" name="Rounded Rectangle 46"/>
          <p:cNvSpPr/>
          <p:nvPr/>
        </p:nvSpPr>
        <p:spPr>
          <a:xfrm>
            <a:off x="320040" y="6172200"/>
            <a:ext cx="11567160" cy="502920"/>
          </a:xfrm>
          <a:prstGeom prst="roundRect">
            <a:avLst/>
          </a:prstGeom>
          <a:solidFill>
            <a:srgbClr val="EFF3FB"/>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E3A8A"/>
                </a:solidFill>
                <a:latin typeface="Calibri"/>
              </a:rPr>
              <a:t>Same data, different views: everyone browses &amp; adds · 'My colony' is scoped to you · only Managers/PI approve &amp; route to breeding · every change is logged in audit_log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